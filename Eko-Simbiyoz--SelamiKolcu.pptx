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8288000" cy="10287000"/>
  <p:notesSz cx="6858000" cy="9144000"/>
  <p:embeddedFontLst>
    <p:embeddedFont>
      <p:font typeface="Poppins" panose="00000500000000000000" pitchFamily="2" charset="-94"/>
      <p:regular r:id="rId18"/>
    </p:embeddedFont>
    <p:embeddedFont>
      <p:font typeface="Poppins Bold" panose="020B0604020202020204" charset="-94"/>
      <p:regular r:id="rId19"/>
    </p:embeddedFont>
    <p:embeddedFont>
      <p:font typeface="Poppins Light" panose="00000400000000000000" pitchFamily="2" charset="-9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4.mp4"/><Relationship Id="rId1" Type="http://schemas.openxmlformats.org/officeDocument/2006/relationships/video" Target="NULL" TargetMode="Externa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5.mp4"/><Relationship Id="rId1" Type="http://schemas.openxmlformats.org/officeDocument/2006/relationships/video" Target="NULL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6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elami-kolcu-631694293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github.com/SelamiKolcu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17340" y="3767735"/>
            <a:ext cx="11253320" cy="1983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30"/>
              </a:lnSpc>
            </a:pPr>
            <a:r>
              <a:rPr lang="en-US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EKO-S</a:t>
            </a:r>
            <a:r>
              <a:rPr lang="tr-TR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</a:t>
            </a:r>
            <a:r>
              <a:rPr lang="en-US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MB</a:t>
            </a:r>
            <a:r>
              <a:rPr lang="tr-TR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</a:t>
            </a:r>
            <a:r>
              <a:rPr lang="en-US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YOZ: ENDÜSTR</a:t>
            </a:r>
            <a:r>
              <a:rPr lang="tr-TR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</a:t>
            </a:r>
            <a:r>
              <a:rPr lang="en-US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  GER</a:t>
            </a:r>
            <a:r>
              <a:rPr lang="tr-TR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</a:t>
            </a:r>
            <a:r>
              <a:rPr lang="en-US" sz="552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DÖNÜŞÜM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155132" y="5913479"/>
            <a:ext cx="9977737" cy="47625"/>
            <a:chOff x="0" y="0"/>
            <a:chExt cx="2627881" cy="125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27881" cy="12543"/>
            </a:xfrm>
            <a:custGeom>
              <a:avLst/>
              <a:gdLst/>
              <a:ahLst/>
              <a:cxnLst/>
              <a:rect l="l" t="t" r="r" b="b"/>
              <a:pathLst>
                <a:path w="2627881" h="12543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69019" y="6075491"/>
            <a:ext cx="6549961" cy="577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9"/>
              </a:lnSpc>
            </a:pPr>
            <a:r>
              <a:rPr lang="en-US" sz="1656" spc="414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YAPAY ZEKA DESTEKLI ENDÜSTR</a:t>
            </a:r>
            <a:r>
              <a:rPr lang="tr-TR" sz="1656" spc="414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İ</a:t>
            </a:r>
            <a:r>
              <a:rPr lang="en-US" sz="1656" spc="414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YEL ATIK VE KAYNAK EŞLEŞT</a:t>
            </a:r>
            <a:r>
              <a:rPr lang="tr-TR" sz="1656" spc="414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İ</a:t>
            </a:r>
            <a:r>
              <a:rPr lang="en-US" sz="1656" spc="414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RME PLATFORMU</a:t>
            </a:r>
          </a:p>
        </p:txBody>
      </p:sp>
      <p:sp>
        <p:nvSpPr>
          <p:cNvPr id="10" name="Freeform 10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77060"/>
            <a:ext cx="3086100" cy="85998"/>
            <a:chOff x="0" y="0"/>
            <a:chExt cx="812800" cy="22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760154" y="6081543"/>
            <a:ext cx="3518646" cy="3854394"/>
          </a:xfrm>
          <a:custGeom>
            <a:avLst/>
            <a:gdLst/>
            <a:ahLst/>
            <a:cxnLst/>
            <a:rect l="l" t="t" r="r" b="b"/>
            <a:pathLst>
              <a:path w="3518646" h="3854394">
                <a:moveTo>
                  <a:pt x="0" y="0"/>
                </a:moveTo>
                <a:lnTo>
                  <a:pt x="3518646" y="0"/>
                </a:lnTo>
                <a:lnTo>
                  <a:pt x="3518646" y="3854394"/>
                </a:lnTo>
                <a:lnTo>
                  <a:pt x="0" y="3854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3247521"/>
            <a:ext cx="243225" cy="261738"/>
            <a:chOff x="0" y="0"/>
            <a:chExt cx="64059" cy="689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881762"/>
            <a:ext cx="243225" cy="261738"/>
            <a:chOff x="0" y="0"/>
            <a:chExt cx="64059" cy="689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138735"/>
            <a:ext cx="243225" cy="261738"/>
            <a:chOff x="0" y="0"/>
            <a:chExt cx="64059" cy="689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6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4239"/>
                </p14:media>
              </p:ext>
            </p:extLst>
          </p:nvPr>
        </p:nvPicPr>
        <p:blipFill>
          <a:blip r:embed="rId6"/>
          <a:srcRect l="10639" r="18110"/>
          <a:stretch>
            <a:fillRect/>
          </a:stretch>
        </p:blipFill>
        <p:spPr>
          <a:xfrm>
            <a:off x="9307280" y="1056552"/>
            <a:ext cx="8696464" cy="7247057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28700" y="866775"/>
            <a:ext cx="4648252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3778" y="3190371"/>
            <a:ext cx="7893502" cy="148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Sanayide atık israfı sürdürülemez boyutta.</a:t>
            </a:r>
          </a:p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Her yıl milyonlarca ton endüstriyel atık değerlendirilmeden kaybediliyor. Bu verimsizlik hem ekonomik kayıp hem de çevresel yük anlamına geliyor.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348361"/>
            <a:ext cx="789350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Sektörler Arası İletişimsizlik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3778" y="4820475"/>
            <a:ext cx="7893502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Fabrika </a:t>
            </a: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↔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Fabrika, Sera </a:t>
            </a: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↔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Sera veya Fabrika </a:t>
            </a: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↔ 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Sera arasındaki devasa potansiyel kaynak değişiminin manuel olarak yönetilememesi.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3778" y="6081585"/>
            <a:ext cx="7893502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Çifte İsraf: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Bir taraf milyarlarca liralık potansiyel hammaddeyi çöpe atarken, diğer tarafın aynı hammaddeyi dışarıdan yüksek maliyetle satın alması.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7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83180" y="3271988"/>
            <a:ext cx="544214" cy="544214"/>
            <a:chOff x="0" y="0"/>
            <a:chExt cx="725618" cy="72561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83180" y="4891238"/>
            <a:ext cx="544214" cy="544214"/>
            <a:chOff x="0" y="0"/>
            <a:chExt cx="725618" cy="72561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483180" y="6777220"/>
            <a:ext cx="544214" cy="544214"/>
            <a:chOff x="0" y="0"/>
            <a:chExt cx="725618" cy="7256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30981" y="3245334"/>
            <a:ext cx="544214" cy="544214"/>
            <a:chOff x="0" y="0"/>
            <a:chExt cx="725618" cy="725618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30981" y="4864584"/>
            <a:ext cx="544214" cy="544214"/>
            <a:chOff x="0" y="0"/>
            <a:chExt cx="725618" cy="725618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30981" y="6777220"/>
            <a:ext cx="544214" cy="544214"/>
            <a:chOff x="0" y="0"/>
            <a:chExt cx="725618" cy="725618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07901" y="2070304"/>
            <a:ext cx="3086100" cy="85998"/>
            <a:chOff x="0" y="0"/>
            <a:chExt cx="812800" cy="226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28700" y="866775"/>
            <a:ext cx="4648252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ÇÖZÜM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55300" y="3165952"/>
            <a:ext cx="305761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YAPAY ZEKA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355300" y="3849847"/>
            <a:ext cx="4498083" cy="640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Akıllı eşleştirme algoritmaları ile atık ve kaynak optimizasyonu.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55300" y="4785202"/>
            <a:ext cx="449808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DİNAMİK LOJİSTİK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355300" y="5469097"/>
            <a:ext cx="4498083" cy="95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Eşleşen tesisler arasındaki en verimli nakliye rotasının ve lojistik kaynaklı karbon ayak izinin anlık hesaplanması.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355300" y="6671184"/>
            <a:ext cx="305761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ÇİFTE KAZANÇ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355300" y="7355079"/>
            <a:ext cx="4498083" cy="95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Atığını değerlendiren tesis için yeni gelir kapısı, kaynağı alan tesis için düşük maliyetli hammadde tedariki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03100" y="3139298"/>
            <a:ext cx="305761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ÇAPRAZ AĞ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03100" y="3823193"/>
            <a:ext cx="4498083" cy="640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Otomatik eşleştirme ve bildirim sistemleri.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203100" y="4758548"/>
            <a:ext cx="3953030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KARBON ANALİTİĞİ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03100" y="5442443"/>
            <a:ext cx="4498083" cy="640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Gerçek zamanlı veri analizi ve raporlama araçları.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03100" y="6671184"/>
            <a:ext cx="3804123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SOSYAL ETKİ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03100" y="7355079"/>
            <a:ext cx="4498083" cy="95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17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Sistemde gerçekleşen kaynak değişimlerinin yerel kalkınmaya  ve sosyal faydaya dönüşmesi.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07901" y="2276295"/>
            <a:ext cx="11623310" cy="81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ÇAPRAZ SEKTÖREL D</a:t>
            </a:r>
            <a:r>
              <a:rPr lang="tr-TR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</a:t>
            </a:r>
            <a:r>
              <a:rPr lang="en-US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</a:t>
            </a:r>
            <a:r>
              <a:rPr lang="tr-TR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</a:t>
            </a:r>
            <a:r>
              <a:rPr lang="en-US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TAL S</a:t>
            </a:r>
            <a:r>
              <a:rPr lang="tr-TR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</a:t>
            </a:r>
            <a:r>
              <a:rPr lang="en-US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MB</a:t>
            </a:r>
            <a:r>
              <a:rPr lang="tr-TR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</a:t>
            </a:r>
            <a:r>
              <a:rPr lang="en-US" sz="232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YOZ AĞI</a:t>
            </a:r>
          </a:p>
          <a:p>
            <a:pPr marL="0" lvl="0" indent="0" algn="l">
              <a:lnSpc>
                <a:spcPts val="3252"/>
              </a:lnSpc>
            </a:pPr>
            <a:endParaRPr lang="en-US" sz="2323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4725" y="2572275"/>
            <a:ext cx="3086100" cy="85998"/>
            <a:chOff x="0" y="0"/>
            <a:chExt cx="812800" cy="22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2035" r="12052"/>
          <a:stretch>
            <a:fillRect/>
          </a:stretch>
        </p:blipFill>
        <p:spPr>
          <a:xfrm>
            <a:off x="9521115" y="1708336"/>
            <a:ext cx="7738185" cy="605248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64725" y="775167"/>
            <a:ext cx="7765551" cy="1520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87"/>
              </a:lnSpc>
            </a:pPr>
            <a:r>
              <a:rPr lang="en-US" sz="427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TÜRKIYE'NIN ENDÜSTR</a:t>
            </a:r>
            <a:r>
              <a:rPr lang="tr-TR" sz="427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427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YEL S</a:t>
            </a:r>
            <a:r>
              <a:rPr lang="tr-TR" sz="427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427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MB</a:t>
            </a:r>
            <a:r>
              <a:rPr lang="tr-TR" sz="427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4277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YOZ AĞI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0498" y="3190371"/>
            <a:ext cx="7893502" cy="148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Endüstriyel kaynakların verimli ve güvenli dönüşüm yol haritası olmasının yanı sıra bölgeler arası atık değişimini dijitalleştirerek karbon ayak izini gerçek zamanlı takip ve optimize ediyoruz.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1115" y="7915192"/>
            <a:ext cx="7893502" cy="44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Canlı Veri Takibi</a:t>
            </a:r>
          </a:p>
        </p:txBody>
      </p:sp>
      <p:sp>
        <p:nvSpPr>
          <p:cNvPr id="9" name="Freeform 9"/>
          <p:cNvSpPr/>
          <p:nvPr/>
        </p:nvSpPr>
        <p:spPr>
          <a:xfrm>
            <a:off x="7049861" y="8671481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8" y="0"/>
                </a:lnTo>
                <a:lnTo>
                  <a:pt x="4188278" y="1173638"/>
                </a:lnTo>
                <a:lnTo>
                  <a:pt x="0" y="11736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07950" y="5086350"/>
            <a:ext cx="7893502" cy="74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Tesisler arasındaki bu bağlar, optimize edilmiş lojistik rotaları ve minimize edilen karbon ayak izini simgeler.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64725" y="3247521"/>
            <a:ext cx="243225" cy="261738"/>
            <a:chOff x="0" y="0"/>
            <a:chExt cx="64059" cy="689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4725" y="5143500"/>
            <a:ext cx="243225" cy="261738"/>
            <a:chOff x="0" y="0"/>
            <a:chExt cx="64059" cy="689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280635"/>
            <a:ext cx="3086100" cy="85998"/>
            <a:chOff x="0" y="0"/>
            <a:chExt cx="812800" cy="22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01993" y="6480386"/>
            <a:ext cx="2775656" cy="3719472"/>
          </a:xfrm>
          <a:custGeom>
            <a:avLst/>
            <a:gdLst/>
            <a:ahLst/>
            <a:cxnLst/>
            <a:rect l="l" t="t" r="r" b="b"/>
            <a:pathLst>
              <a:path w="2775656" h="3719472">
                <a:moveTo>
                  <a:pt x="0" y="0"/>
                </a:moveTo>
                <a:lnTo>
                  <a:pt x="2775656" y="0"/>
                </a:lnTo>
                <a:lnTo>
                  <a:pt x="2775656" y="3719472"/>
                </a:lnTo>
                <a:lnTo>
                  <a:pt x="0" y="3719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924800" y="-1136962"/>
            <a:ext cx="11392653" cy="11383404"/>
            <a:chOff x="219547" y="25408"/>
            <a:chExt cx="6213599" cy="6208555"/>
          </a:xfrm>
        </p:grpSpPr>
        <p:sp>
          <p:nvSpPr>
            <p:cNvPr id="7" name="Freeform 7"/>
            <p:cNvSpPr/>
            <p:nvPr/>
          </p:nvSpPr>
          <p:spPr>
            <a:xfrm>
              <a:off x="219547" y="25408"/>
              <a:ext cx="6213599" cy="6208555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7087" y="4293002"/>
            <a:ext cx="243225" cy="261738"/>
            <a:chOff x="0" y="0"/>
            <a:chExt cx="64059" cy="689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7087" y="5649399"/>
            <a:ext cx="243225" cy="261738"/>
            <a:chOff x="0" y="0"/>
            <a:chExt cx="64059" cy="689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942975"/>
            <a:ext cx="4648252" cy="116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92"/>
              </a:lnSpc>
            </a:pPr>
            <a:r>
              <a:rPr lang="en-US" sz="328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AKILLI EŞLEŞT</a:t>
            </a:r>
            <a:r>
              <a:rPr lang="tr-TR" sz="328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328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RME VE PAZAR YER</a:t>
            </a:r>
            <a:r>
              <a:rPr lang="tr-TR" sz="328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328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713058"/>
            <a:ext cx="7893502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Yapay zeka destekli atık ve kaynak eşleştirme arayüzü</a:t>
            </a:r>
          </a:p>
          <a:p>
            <a:pPr marL="0" lvl="0" indent="0"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Endüstriyel atıkları değerli kaynaklara dönüştüren akıllı platform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0498" y="4235852"/>
            <a:ext cx="7508424" cy="74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Tek Tıkla Eşleşme İsteği: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Tesisler arası iletişimi hızlandıran pratik ve güvenli onay mekanizması.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0498" y="5592249"/>
            <a:ext cx="6756604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AI Otomatik Önerileri: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Kullanıcı aramasına gerek kalmadan, eldeki atığa en uygun kaynakların yapay zeka tarafından önerilmesi.</a:t>
            </a:r>
          </a:p>
        </p:txBody>
      </p:sp>
      <p:pic>
        <p:nvPicPr>
          <p:cNvPr id="23" name="Eco-Symbiosis • Circular Economy Platform - Google Chrome 2026-05-10 15-18-46">
            <a:hlinkClick r:id="" action="ppaction://media"/>
            <a:extLst>
              <a:ext uri="{FF2B5EF4-FFF2-40B4-BE49-F238E27FC236}">
                <a16:creationId xmlns:a16="http://schemas.microsoft.com/office/drawing/2014/main" id="{0F01D3DA-57D7-0621-5B42-3B6A4649DC3C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42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761677" y="2312109"/>
            <a:ext cx="7718897" cy="45830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747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760"/>
                </p14:media>
              </p:ext>
            </p:extLst>
          </p:nvPr>
        </p:nvPicPr>
        <p:blipFill>
          <a:blip r:embed="rId4"/>
          <a:srcRect t="1018" b="424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99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79FC257-F331-DB1F-5CAB-2B44092FE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"/>
            <a:ext cx="18288000" cy="1031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32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100"/>
          <p:cNvGrpSpPr/>
          <p:nvPr/>
        </p:nvGrpSpPr>
        <p:grpSpPr>
          <a:xfrm>
            <a:off x="1028700" y="2050000"/>
            <a:ext cx="3086100" cy="85998"/>
            <a:chOff x="0" y="0"/>
            <a:chExt cx="812800" cy="2265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1023444" y="991999"/>
            <a:ext cx="6800000" cy="1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0"/>
              </a:lnSpc>
            </a:pPr>
            <a:r>
              <a:rPr lang="tr-TR" sz="28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GELECEĞİN ENDÜSTRİSİNİ BUGÜN DENEYİMLEYİN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907087" y="2500000"/>
            <a:ext cx="243225" cy="261738"/>
            <a:chOff x="0" y="0"/>
            <a:chExt cx="64059" cy="68935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" name="TextBox 106"/>
          <p:cNvSpPr txBox="1"/>
          <p:nvPr/>
        </p:nvSpPr>
        <p:spPr>
          <a:xfrm>
            <a:off x="1193733" y="2443000"/>
            <a:ext cx="5900000" cy="10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tr-TR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Canlı Simülasyon:</a:t>
            </a:r>
            <a:r>
              <a:rPr lang="tr-TR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Tesis verilerinizi sisteme girerek gerçek zamanlı eşleşme ve lojistik rota optimizasyonunu izleyin.</a:t>
            </a:r>
          </a:p>
        </p:txBody>
      </p:sp>
      <p:grpSp>
        <p:nvGrpSpPr>
          <p:cNvPr id="107" name="Group 107"/>
          <p:cNvGrpSpPr/>
          <p:nvPr/>
        </p:nvGrpSpPr>
        <p:grpSpPr>
          <a:xfrm>
            <a:off x="907087" y="3900000"/>
            <a:ext cx="243225" cy="261738"/>
            <a:chOff x="0" y="0"/>
            <a:chExt cx="64059" cy="68935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" name="TextBox 109"/>
          <p:cNvSpPr txBox="1"/>
          <p:nvPr/>
        </p:nvSpPr>
        <p:spPr>
          <a:xfrm>
            <a:off x="1193733" y="3843000"/>
            <a:ext cx="5900000" cy="10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tr-TR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ESG Projeksiyonu:</a:t>
            </a:r>
            <a:r>
              <a:rPr lang="tr-TR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Demo sürecinde, olası hammadde değişimlerinizin yaratacağı karbon tasarrufunu ve sertifikasyon sürecini görün.</a:t>
            </a:r>
          </a:p>
        </p:txBody>
      </p:sp>
      <p:grpSp>
        <p:nvGrpSpPr>
          <p:cNvPr id="110" name="Group 110"/>
          <p:cNvGrpSpPr/>
          <p:nvPr/>
        </p:nvGrpSpPr>
        <p:grpSpPr>
          <a:xfrm>
            <a:off x="901831" y="5146061"/>
            <a:ext cx="243225" cy="261738"/>
            <a:chOff x="0" y="0"/>
            <a:chExt cx="64059" cy="68935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" name="TextBox 112"/>
          <p:cNvSpPr txBox="1"/>
          <p:nvPr/>
        </p:nvSpPr>
        <p:spPr>
          <a:xfrm>
            <a:off x="1164800" y="5144468"/>
            <a:ext cx="5900000" cy="105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tr-TR" sz="1800" b="1" noProof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Özel Çözüm Analizi:</a:t>
            </a:r>
            <a:r>
              <a:rPr lang="tr-TR" sz="1800" noProof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Sektörünüze ve tesis kapasitenize özel simbiyoz fırsatlarını teknik ekibimizle birlikte değerlendirin.</a:t>
            </a:r>
          </a:p>
        </p:txBody>
      </p:sp>
      <p:sp>
        <p:nvSpPr>
          <p:cNvPr id="116" name="Freeform 116"/>
          <p:cNvSpPr/>
          <p:nvPr/>
        </p:nvSpPr>
        <p:spPr>
          <a:xfrm>
            <a:off x="6516726" y="8801813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8" y="0"/>
                </a:lnTo>
                <a:lnTo>
                  <a:pt x="4188278" y="1173638"/>
                </a:lnTo>
                <a:lnTo>
                  <a:pt x="0" y="1173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Eco-Symbiosis • Circular Economy Platform - Google Chrome 2026-05-10 15-33-53">
            <a:hlinkClick r:id="" action="ppaction://media"/>
            <a:extLst>
              <a:ext uri="{FF2B5EF4-FFF2-40B4-BE49-F238E27FC236}">
                <a16:creationId xmlns:a16="http://schemas.microsoft.com/office/drawing/2014/main" id="{906BE59D-FDB6-2B56-FEC3-15A60990AC7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10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91400" y="1257300"/>
            <a:ext cx="108966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5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77060"/>
            <a:ext cx="3086100" cy="85998"/>
            <a:chOff x="0" y="0"/>
            <a:chExt cx="812800" cy="22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78196" y="6069331"/>
            <a:ext cx="6436635" cy="4132893"/>
          </a:xfrm>
          <a:custGeom>
            <a:avLst/>
            <a:gdLst/>
            <a:ahLst/>
            <a:cxnLst/>
            <a:rect l="l" t="t" r="r" b="b"/>
            <a:pathLst>
              <a:path w="6436635" h="4132893">
                <a:moveTo>
                  <a:pt x="0" y="0"/>
                </a:moveTo>
                <a:lnTo>
                  <a:pt x="6436635" y="0"/>
                </a:lnTo>
                <a:lnTo>
                  <a:pt x="6436635" y="4132893"/>
                </a:lnTo>
                <a:lnTo>
                  <a:pt x="0" y="4132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343867" y="5146895"/>
            <a:ext cx="3706934" cy="3787417"/>
          </a:xfrm>
          <a:custGeom>
            <a:avLst/>
            <a:gdLst/>
            <a:ahLst/>
            <a:cxnLst/>
            <a:rect l="l" t="t" r="r" b="b"/>
            <a:pathLst>
              <a:path w="3706934" h="3787417">
                <a:moveTo>
                  <a:pt x="0" y="0"/>
                </a:moveTo>
                <a:lnTo>
                  <a:pt x="3706934" y="0"/>
                </a:lnTo>
                <a:lnTo>
                  <a:pt x="3706934" y="3787417"/>
                </a:lnTo>
                <a:lnTo>
                  <a:pt x="0" y="3787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07087" y="3598612"/>
            <a:ext cx="243225" cy="261738"/>
            <a:chOff x="0" y="0"/>
            <a:chExt cx="64059" cy="689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7087" y="4730480"/>
            <a:ext cx="243225" cy="261738"/>
            <a:chOff x="0" y="0"/>
            <a:chExt cx="64059" cy="689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7087" y="5858993"/>
            <a:ext cx="243225" cy="261738"/>
            <a:chOff x="0" y="0"/>
            <a:chExt cx="64059" cy="689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6516726" y="8801813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8" y="0"/>
                </a:lnTo>
                <a:lnTo>
                  <a:pt x="4188278" y="1173638"/>
                </a:lnTo>
                <a:lnTo>
                  <a:pt x="0" y="1173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082233" y="576215"/>
            <a:ext cx="8205767" cy="7559562"/>
          </a:xfrm>
          <a:custGeom>
            <a:avLst/>
            <a:gdLst/>
            <a:ahLst/>
            <a:cxnLst/>
            <a:rect l="l" t="t" r="r" b="b"/>
            <a:pathLst>
              <a:path w="8205767" h="7559562">
                <a:moveTo>
                  <a:pt x="0" y="0"/>
                </a:moveTo>
                <a:lnTo>
                  <a:pt x="8205767" y="0"/>
                </a:lnTo>
                <a:lnTo>
                  <a:pt x="8205767" y="7559563"/>
                </a:lnTo>
                <a:lnTo>
                  <a:pt x="0" y="7559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28700" y="1052284"/>
            <a:ext cx="6958721" cy="63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08"/>
              </a:lnSpc>
            </a:pPr>
            <a:r>
              <a:rPr lang="en-US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YÖNETİCİ ONAY MEKAN</a:t>
            </a:r>
            <a:r>
              <a:rPr lang="tr-TR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ZMASI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364654"/>
            <a:ext cx="7893502" cy="74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Sistemdeki her eşleşme admin denetiminden geçerek suistimalleri önler ve endüstriyel veri kalitesini korur.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3733" y="3541462"/>
            <a:ext cx="7728468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Merkezi Denetim: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Platform üzerindeki tüm atık ve kaynak eşleşmeleri, sistem yöneticisinin onay mekanizmasından geçer.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3733" y="4673330"/>
            <a:ext cx="7728468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Kademeli Bilgi Paylaşımı: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Tesisler birbirlerinin detaylı iletişim bilgilerini ancak onay süreci tamamlandıktan sonra görebilirler.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3733" y="5801127"/>
            <a:ext cx="7728468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Kalite ve Suistimal Kontrolü: 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Manuel onay süreci, hatalı veri girişlerini filtreleyerek sistemdeki simbiyoz ağının güvenliğini sağlar.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21003"/>
            <a:ext cx="243225" cy="261738"/>
            <a:chOff x="0" y="0"/>
            <a:chExt cx="64059" cy="689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454267"/>
            <a:ext cx="243225" cy="261738"/>
            <a:chOff x="0" y="0"/>
            <a:chExt cx="64059" cy="689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877060"/>
            <a:ext cx="3086100" cy="85998"/>
            <a:chOff x="0" y="0"/>
            <a:chExt cx="812800" cy="226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876623"/>
            <a:ext cx="243225" cy="261738"/>
            <a:chOff x="0" y="0"/>
            <a:chExt cx="64059" cy="689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7375896"/>
            <a:ext cx="243225" cy="261738"/>
            <a:chOff x="0" y="0"/>
            <a:chExt cx="64059" cy="689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266634" y="2133204"/>
            <a:ext cx="9021366" cy="5720866"/>
          </a:xfrm>
          <a:custGeom>
            <a:avLst/>
            <a:gdLst/>
            <a:ahLst/>
            <a:cxnLst/>
            <a:rect l="l" t="t" r="r" b="b"/>
            <a:pathLst>
              <a:path w="9021366" h="5720866">
                <a:moveTo>
                  <a:pt x="0" y="0"/>
                </a:moveTo>
                <a:lnTo>
                  <a:pt x="9021366" y="0"/>
                </a:lnTo>
                <a:lnTo>
                  <a:pt x="9021366" y="5720866"/>
                </a:lnTo>
                <a:lnTo>
                  <a:pt x="0" y="5720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28700" y="866775"/>
            <a:ext cx="4648252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SOSYAL ETKİ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46775" y="3363853"/>
            <a:ext cx="7893502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Çevresel Fayda: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Karbon ayak izinde azalma ve sürdürülebilir üretim döngüsü ile çevreye olan etkimizi minimize ediyoruz.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6775" y="4405926"/>
            <a:ext cx="7893502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Kadın Kooperatiflerine Destek: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Üretim süreçlerinde atıl kalan kaynakların kadın kooperatifleri aracılığıyla ekonomiye kazandırılması için özel mekanizmalar.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0313" y="2260828"/>
            <a:ext cx="6399737" cy="39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5"/>
              </a:lnSpc>
            </a:pPr>
            <a:r>
              <a:rPr lang="en-US" sz="219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“SADECE DOĞA DEĞIL, TOPLUM İÇ</a:t>
            </a:r>
            <a:r>
              <a:rPr lang="tr-TR" sz="219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219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DE S</a:t>
            </a:r>
            <a:r>
              <a:rPr lang="tr-TR" sz="219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219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NERJ</a:t>
            </a:r>
            <a:r>
              <a:rPr lang="tr-TR" sz="219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219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6775" y="5819473"/>
            <a:ext cx="7893502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Eğitim ve Kalkınma Fonları: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Platform üzerinden sağlanan tasarrufun bir kısmının eğitim burslarına ve yerel kalkınma projelerine aktarılması.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46775" y="7318746"/>
            <a:ext cx="7893502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Sosyal Sinerji Modeli: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Yapılan her ticaretin bir kısmının, tesislerin seçtiği bir sosyal sorumluluk projesine bağış olarak dönüşmesi. </a:t>
            </a:r>
          </a:p>
        </p:txBody>
      </p:sp>
      <p:sp>
        <p:nvSpPr>
          <p:cNvPr id="24" name="Freeform 24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21003"/>
            <a:ext cx="243225" cy="261738"/>
            <a:chOff x="0" y="0"/>
            <a:chExt cx="64059" cy="689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5248273"/>
            <a:ext cx="243225" cy="261738"/>
            <a:chOff x="0" y="0"/>
            <a:chExt cx="64059" cy="689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0313" y="1615439"/>
            <a:ext cx="3086100" cy="85998"/>
            <a:chOff x="0" y="0"/>
            <a:chExt cx="812800" cy="226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7319761"/>
            <a:ext cx="243225" cy="261738"/>
            <a:chOff x="0" y="0"/>
            <a:chExt cx="64059" cy="689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144000" y="2652713"/>
            <a:ext cx="8987973" cy="5191121"/>
          </a:xfrm>
          <a:custGeom>
            <a:avLst/>
            <a:gdLst/>
            <a:ahLst/>
            <a:cxnLst/>
            <a:rect l="l" t="t" r="r" b="b"/>
            <a:pathLst>
              <a:path w="8987973" h="5191121">
                <a:moveTo>
                  <a:pt x="0" y="0"/>
                </a:moveTo>
                <a:lnTo>
                  <a:pt x="8987973" y="0"/>
                </a:lnTo>
                <a:lnTo>
                  <a:pt x="8987973" y="5191120"/>
                </a:lnTo>
                <a:lnTo>
                  <a:pt x="0" y="5191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63" r="-75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28700" y="914400"/>
            <a:ext cx="15650483" cy="669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60"/>
              </a:lnSpc>
            </a:pPr>
            <a:r>
              <a:rPr lang="en-US" sz="3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SÜREÇ VE ŞEFFAFLIK MEKAN</a:t>
            </a:r>
            <a:r>
              <a:rPr lang="tr-TR" sz="3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39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ZMASI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6775" y="3363853"/>
            <a:ext cx="7893502" cy="148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Talep Girişi ve Kategorizasyon: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Kooperatifler, eğitim kurumları veya yerel kalkınma grupları; ihtiyaç duydukları destek türünü (hammadde, fon, eğitim bursu) portal üzerinden sisteme tanımlar.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6775" y="5191123"/>
            <a:ext cx="7893502" cy="1489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Kademeli Onay Mekanizması: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Her başvuru; verilerin doğruluğu ve uygunluğu açısından admin paneli üzerinden denetlenir. Onaylanan taleplerin durumu anlık olarak güncellenir.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0313" y="2260828"/>
            <a:ext cx="7992327" cy="39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5"/>
              </a:lnSpc>
            </a:pPr>
            <a:r>
              <a:rPr lang="en-US" sz="21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"VERIDEN İYILIĞE: BAŞVURUDAN TESLIME UÇTAN UCA TAKIP"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6775" y="7256122"/>
            <a:ext cx="7893502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Dijital İzlenebilirlik: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Başvuru sahipleri ve destek sağlayan tesisler; sürecin her aşamasını (Beklemede, Onaylandı, Kaynak Aktarıldı) şeffaf bir şekilde takip edebilir.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77060"/>
            <a:ext cx="3086100" cy="85998"/>
            <a:chOff x="0" y="0"/>
            <a:chExt cx="812800" cy="22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493457" y="6518820"/>
            <a:ext cx="2968651" cy="3978092"/>
          </a:xfrm>
          <a:custGeom>
            <a:avLst/>
            <a:gdLst/>
            <a:ahLst/>
            <a:cxnLst/>
            <a:rect l="l" t="t" r="r" b="b"/>
            <a:pathLst>
              <a:path w="2968651" h="3978092">
                <a:moveTo>
                  <a:pt x="0" y="0"/>
                </a:moveTo>
                <a:lnTo>
                  <a:pt x="2968652" y="0"/>
                </a:lnTo>
                <a:lnTo>
                  <a:pt x="2968652" y="3978092"/>
                </a:lnTo>
                <a:lnTo>
                  <a:pt x="0" y="39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67082" y="3878243"/>
            <a:ext cx="243225" cy="261738"/>
            <a:chOff x="0" y="0"/>
            <a:chExt cx="64059" cy="689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pic>
        <p:nvPicPr>
          <p:cNvPr id="9" name="Picture 9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246"/>
                </p14:media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7830550" y="1619238"/>
            <a:ext cx="10457450" cy="663668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28700" y="552325"/>
            <a:ext cx="4959982" cy="132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08"/>
              </a:lnSpc>
            </a:pPr>
            <a:r>
              <a:rPr lang="en-US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KAYITLI TES</a:t>
            </a:r>
            <a:r>
              <a:rPr lang="tr-TR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YÖNET</a:t>
            </a:r>
            <a:r>
              <a:rPr lang="tr-TR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tr-TR" sz="372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endParaRPr lang="en-US" sz="372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2527795"/>
            <a:ext cx="6691828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"Şu anda 95'ten fazla tesis (Fabrika, Sera, Kooperatif) sistemimize kayıtlı ve tüm operasyonel verileri merkezi olarak yönetiliyor."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0329" y="3819306"/>
            <a:ext cx="6210221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Hibrit Tesis Portföyü: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Fabrikalar, seralar ve kooperatiflerden oluşan çok sektörlü bir veritabanı yapısı.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0329" y="5110816"/>
            <a:ext cx="6210221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Abonelik ve Yetki Yönetimi: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Her tesisin üyelik planı, erişim izinleri ve sektörel verilerinin merkezi kontrolü.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0329" y="6400539"/>
            <a:ext cx="6210221" cy="11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Merkezi Veri Kontrolü:</a:t>
            </a:r>
            <a:r>
              <a:rPr lang="en-US" sz="20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Tesislerin kapasite, atık türü ve konum gibi kritik verilerinin admin paneli üzerinden anlık yönetimi.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67082" y="5143500"/>
            <a:ext cx="243225" cy="261738"/>
            <a:chOff x="0" y="0"/>
            <a:chExt cx="64059" cy="689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7082" y="6457689"/>
            <a:ext cx="243225" cy="261738"/>
            <a:chOff x="0" y="0"/>
            <a:chExt cx="64059" cy="689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3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7901" y="3271988"/>
            <a:ext cx="544214" cy="544214"/>
            <a:chOff x="0" y="0"/>
            <a:chExt cx="725618" cy="72561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7901" y="4891238"/>
            <a:ext cx="544214" cy="544214"/>
            <a:chOff x="0" y="0"/>
            <a:chExt cx="725618" cy="72561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145078"/>
            <a:ext cx="3452841" cy="49324"/>
            <a:chOff x="0" y="0"/>
            <a:chExt cx="909390" cy="129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9390" cy="12991"/>
            </a:xfrm>
            <a:custGeom>
              <a:avLst/>
              <a:gdLst/>
              <a:ahLst/>
              <a:cxnLst/>
              <a:rect l="l" t="t" r="r" b="b"/>
              <a:pathLst>
                <a:path w="909390" h="12991">
                  <a:moveTo>
                    <a:pt x="0" y="0"/>
                  </a:moveTo>
                  <a:lnTo>
                    <a:pt x="909390" y="0"/>
                  </a:lnTo>
                  <a:lnTo>
                    <a:pt x="909390" y="12991"/>
                  </a:lnTo>
                  <a:lnTo>
                    <a:pt x="0" y="12991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9390" cy="51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465235" y="883135"/>
            <a:ext cx="6647787" cy="4389945"/>
          </a:xfrm>
          <a:custGeom>
            <a:avLst/>
            <a:gdLst/>
            <a:ahLst/>
            <a:cxnLst/>
            <a:rect l="l" t="t" r="r" b="b"/>
            <a:pathLst>
              <a:path w="6647787" h="4389945">
                <a:moveTo>
                  <a:pt x="0" y="0"/>
                </a:moveTo>
                <a:lnTo>
                  <a:pt x="6647787" y="0"/>
                </a:lnTo>
                <a:lnTo>
                  <a:pt x="6647787" y="4389944"/>
                </a:lnTo>
                <a:lnTo>
                  <a:pt x="0" y="4389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078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107901" y="6826101"/>
            <a:ext cx="544214" cy="544214"/>
            <a:chOff x="0" y="0"/>
            <a:chExt cx="725618" cy="72561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25618" cy="725618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42513" y="125380"/>
              <a:ext cx="440593" cy="440593"/>
            </a:xfrm>
            <a:custGeom>
              <a:avLst/>
              <a:gdLst/>
              <a:ahLst/>
              <a:cxnLst/>
              <a:rect l="l" t="t" r="r" b="b"/>
              <a:pathLst>
                <a:path w="440593" h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6478104" y="9030104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8"/>
                </a:lnTo>
                <a:lnTo>
                  <a:pt x="0" y="1173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0465235" y="5273079"/>
            <a:ext cx="6647787" cy="4598644"/>
          </a:xfrm>
          <a:custGeom>
            <a:avLst/>
            <a:gdLst/>
            <a:ahLst/>
            <a:cxnLst/>
            <a:rect l="l" t="t" r="r" b="b"/>
            <a:pathLst>
              <a:path w="6647787" h="4598644">
                <a:moveTo>
                  <a:pt x="0" y="0"/>
                </a:moveTo>
                <a:lnTo>
                  <a:pt x="6647787" y="0"/>
                </a:lnTo>
                <a:lnTo>
                  <a:pt x="6647787" y="4598645"/>
                </a:lnTo>
                <a:lnTo>
                  <a:pt x="0" y="4598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480" b="-64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028700" y="866775"/>
            <a:ext cx="4648252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İŞ MODELİ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80021" y="3194527"/>
            <a:ext cx="4011139" cy="43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9"/>
              </a:lnSpc>
            </a:pPr>
            <a:r>
              <a:rPr lang="en-US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ABONEL</a:t>
            </a:r>
            <a:r>
              <a:rPr lang="tr-TR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S</a:t>
            </a:r>
            <a:r>
              <a:rPr lang="tr-TR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STEM</a:t>
            </a:r>
            <a:r>
              <a:rPr lang="tr-TR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endParaRPr lang="en-US" sz="25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980021" y="3849847"/>
            <a:ext cx="6533496" cy="60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7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Farklı büyüklükteki tesisler için tasarlanmış Ücretsiz, Pro ve Kurumsal üyelik seçenekleri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80021" y="4813777"/>
            <a:ext cx="4498083" cy="437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9"/>
              </a:lnSpc>
            </a:pPr>
            <a:r>
              <a:rPr lang="en-US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İŞLEM BAZLI KOM</a:t>
            </a:r>
            <a:r>
              <a:rPr lang="tr-TR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İ</a:t>
            </a:r>
            <a:r>
              <a:rPr lang="en-US" sz="254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80021" y="5469097"/>
            <a:ext cx="6533496" cy="8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7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Platform aracılığıyla gerçekleşen her başarılı kaynak eşleşmesi üzerinden %1 ile %3 arasında değişen hizmet bedeli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901" y="2413477"/>
            <a:ext cx="8503717" cy="648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9"/>
              </a:lnSpc>
            </a:pPr>
            <a:r>
              <a:rPr lang="en-US" sz="18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"ECO-SIMBIOS, HAMMADDE TASARRUFUNU ÖLÇEKLENEBILIR BIR SAAS MODELIYLE BIRLEŞTIREREK SÜREKLI GELIR AKIŞI SAĞLAR"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80021" y="6873363"/>
            <a:ext cx="5121543" cy="90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9"/>
              </a:lnSpc>
            </a:pPr>
            <a:r>
              <a:rPr lang="en-US" sz="25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DÖNGÜSEL EKONOMİ SERTİFİKASI</a:t>
            </a:r>
          </a:p>
          <a:p>
            <a:pPr marL="0" lvl="0" indent="0" algn="l">
              <a:lnSpc>
                <a:spcPts val="3559"/>
              </a:lnSpc>
            </a:pPr>
            <a:endParaRPr lang="en-US" sz="254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980021" y="7549638"/>
            <a:ext cx="6533496" cy="8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en-US" sz="17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Tesislerin CO2 tasarrufu, tamamlanan eşleşme sayısı ve başarı puanlarını içeren, doğrulama kodlu dijital prestij sertifikaları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421003"/>
            <a:ext cx="243225" cy="261738"/>
            <a:chOff x="0" y="0"/>
            <a:chExt cx="64059" cy="689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noProof="1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 lang="en-US" noProof="1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5738936"/>
            <a:ext cx="243225" cy="261738"/>
            <a:chOff x="0" y="0"/>
            <a:chExt cx="64059" cy="689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59" cy="68935"/>
            </a:xfrm>
            <a:custGeom>
              <a:avLst/>
              <a:gdLst/>
              <a:ahLst/>
              <a:cxnLst/>
              <a:rect l="l" t="t" r="r" b="b"/>
              <a:pathLst>
                <a:path w="64059" h="68935">
                  <a:moveTo>
                    <a:pt x="0" y="0"/>
                  </a:moveTo>
                  <a:lnTo>
                    <a:pt x="64059" y="0"/>
                  </a:lnTo>
                  <a:lnTo>
                    <a:pt x="64059" y="68935"/>
                  </a:lnTo>
                  <a:lnTo>
                    <a:pt x="0" y="68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 noProof="1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4059" cy="107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 lang="en-US" noProof="1"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8932101" y="313327"/>
            <a:ext cx="492984" cy="2279693"/>
          </a:xfrm>
          <a:custGeom>
            <a:avLst/>
            <a:gdLst/>
            <a:ahLst/>
            <a:cxnLst/>
            <a:rect l="l" t="t" r="r" b="b"/>
            <a:pathLst>
              <a:path w="492984" h="2279693">
                <a:moveTo>
                  <a:pt x="0" y="0"/>
                </a:moveTo>
                <a:lnTo>
                  <a:pt x="492983" y="0"/>
                </a:lnTo>
                <a:lnTo>
                  <a:pt x="492983" y="2279693"/>
                </a:lnTo>
                <a:lnTo>
                  <a:pt x="0" y="2279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noProof="1"/>
          </a:p>
        </p:txBody>
      </p:sp>
      <p:sp>
        <p:nvSpPr>
          <p:cNvPr id="9" name="Freeform 9"/>
          <p:cNvSpPr/>
          <p:nvPr/>
        </p:nvSpPr>
        <p:spPr>
          <a:xfrm>
            <a:off x="12111784" y="1275192"/>
            <a:ext cx="5269731" cy="7247046"/>
          </a:xfrm>
          <a:custGeom>
            <a:avLst/>
            <a:gdLst/>
            <a:ahLst/>
            <a:cxnLst/>
            <a:rect l="l" t="t" r="r" b="b"/>
            <a:pathLst>
              <a:path w="5269731" h="7247046">
                <a:moveTo>
                  <a:pt x="0" y="0"/>
                </a:moveTo>
                <a:lnTo>
                  <a:pt x="5269731" y="0"/>
                </a:lnTo>
                <a:lnTo>
                  <a:pt x="5269731" y="7247046"/>
                </a:lnTo>
                <a:lnTo>
                  <a:pt x="0" y="7247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noProof="1"/>
          </a:p>
        </p:txBody>
      </p:sp>
      <p:sp>
        <p:nvSpPr>
          <p:cNvPr id="10" name="TextBox 10"/>
          <p:cNvSpPr txBox="1"/>
          <p:nvPr/>
        </p:nvSpPr>
        <p:spPr>
          <a:xfrm>
            <a:off x="1028700" y="962025"/>
            <a:ext cx="5216701" cy="91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7"/>
              </a:lnSpc>
            </a:pPr>
            <a:r>
              <a:rPr lang="en-US" sz="2576" noProof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PAZAR FIRSATI VE REKABET AVANTAJI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6797" y="3715021"/>
            <a:ext cx="7893502" cy="89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9"/>
              </a:lnSpc>
            </a:pPr>
            <a:r>
              <a:rPr lang="en-US" sz="1699" noProof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2026'da tam kapasite devreye girecek olan Sınırda Karbon Düzenleme Mekanizması (CBAM), bu tarz sertifikalı takip sistemlerine olan talebi %400 artıracak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797" y="3176587"/>
            <a:ext cx="5112466" cy="35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5"/>
              </a:lnSpc>
            </a:pPr>
            <a:r>
              <a:rPr lang="en-US" sz="1932" b="1" noProof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REGÜLASYON DESTEĞI VE CBAM UYUMU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6797" y="4697730"/>
            <a:ext cx="7893502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9"/>
              </a:lnSpc>
            </a:pPr>
            <a:r>
              <a:rPr lang="en-US" sz="1699" noProof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 Karbon Sınır Düzenleme Mekanizması ile uyumlu çözümler, ihracatçı sanayiciler için zorunlu hale geliyor.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1877060"/>
            <a:ext cx="3086100" cy="85998"/>
            <a:chOff x="0" y="0"/>
            <a:chExt cx="812800" cy="226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 noProof="1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 lang="en-US" noProof="1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58567" y="5649714"/>
            <a:ext cx="5112466" cy="35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5"/>
              </a:lnSpc>
            </a:pPr>
            <a:r>
              <a:rPr lang="en-US" sz="1932" b="1" noProof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VERI GÜCÜ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56797" y="6191174"/>
            <a:ext cx="7893502" cy="60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9"/>
              </a:lnSpc>
            </a:pPr>
            <a:r>
              <a:rPr lang="en-US" sz="1699" noProof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Sadece bir eşleştirme değil; karbon tasarrufu, sosyal etki (burs vb.) ve lojistik optimizasyonu bir arada sunan tek entegre ekosistem</a:t>
            </a:r>
          </a:p>
        </p:txBody>
      </p:sp>
      <p:sp>
        <p:nvSpPr>
          <p:cNvPr id="19" name="Freeform 19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33450"/>
            <a:ext cx="5246391" cy="617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26"/>
              </a:lnSpc>
            </a:pPr>
            <a:r>
              <a:rPr lang="en-US" sz="34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 YOL HARİTASI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00641" y="2505797"/>
            <a:ext cx="114300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"Dünyayı Değil, Geleceği Değiştirelim"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48141" y="3010622"/>
            <a:ext cx="133350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MVP aşamasını başarıyla tamamladık; şimdi hedefimiz endüstriyel simbiyozu global bir standart haline getirmek.</a:t>
            </a:r>
          </a:p>
        </p:txBody>
      </p:sp>
      <p:sp>
        <p:nvSpPr>
          <p:cNvPr id="5" name="AutoShape 5"/>
          <p:cNvSpPr/>
          <p:nvPr/>
        </p:nvSpPr>
        <p:spPr>
          <a:xfrm>
            <a:off x="1776641" y="4775311"/>
            <a:ext cx="14478000" cy="0"/>
          </a:xfrm>
          <a:prstGeom prst="line">
            <a:avLst/>
          </a:prstGeom>
          <a:ln w="28575" cap="flat">
            <a:solidFill>
              <a:srgbClr val="D1D5D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157891" y="4680061"/>
            <a:ext cx="190500" cy="190500"/>
            <a:chOff x="0" y="0"/>
            <a:chExt cx="50165" cy="501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25083" y="0"/>
                  </a:moveTo>
                  <a:cubicBezTo>
                    <a:pt x="11230" y="0"/>
                    <a:pt x="0" y="11230"/>
                    <a:pt x="0" y="25083"/>
                  </a:cubicBezTo>
                  <a:cubicBezTo>
                    <a:pt x="0" y="38935"/>
                    <a:pt x="11230" y="50165"/>
                    <a:pt x="25083" y="50165"/>
                  </a:cubicBezTo>
                  <a:cubicBezTo>
                    <a:pt x="38935" y="50165"/>
                    <a:pt x="50165" y="38935"/>
                    <a:pt x="50165" y="25083"/>
                  </a:cubicBezTo>
                  <a:cubicBezTo>
                    <a:pt x="50165" y="11230"/>
                    <a:pt x="38935" y="0"/>
                    <a:pt x="25083" y="0"/>
                  </a:cubicBezTo>
                  <a:close/>
                </a:path>
              </a:pathLst>
            </a:custGeom>
            <a:solidFill>
              <a:srgbClr val="10B98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165" cy="88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20391" y="4680061"/>
            <a:ext cx="190500" cy="190500"/>
            <a:chOff x="0" y="0"/>
            <a:chExt cx="50165" cy="501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25083" y="0"/>
                  </a:moveTo>
                  <a:cubicBezTo>
                    <a:pt x="11230" y="0"/>
                    <a:pt x="0" y="11230"/>
                    <a:pt x="0" y="25083"/>
                  </a:cubicBezTo>
                  <a:cubicBezTo>
                    <a:pt x="0" y="38935"/>
                    <a:pt x="11230" y="50165"/>
                    <a:pt x="25083" y="50165"/>
                  </a:cubicBezTo>
                  <a:cubicBezTo>
                    <a:pt x="38935" y="50165"/>
                    <a:pt x="50165" y="38935"/>
                    <a:pt x="50165" y="25083"/>
                  </a:cubicBezTo>
                  <a:cubicBezTo>
                    <a:pt x="50165" y="11230"/>
                    <a:pt x="38935" y="0"/>
                    <a:pt x="25083" y="0"/>
                  </a:cubicBezTo>
                  <a:close/>
                </a:path>
              </a:pathLst>
            </a:custGeom>
            <a:solidFill>
              <a:srgbClr val="10B98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165" cy="88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82891" y="4680061"/>
            <a:ext cx="190500" cy="190500"/>
            <a:chOff x="0" y="0"/>
            <a:chExt cx="50165" cy="501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25083" y="0"/>
                  </a:moveTo>
                  <a:cubicBezTo>
                    <a:pt x="11230" y="0"/>
                    <a:pt x="0" y="11230"/>
                    <a:pt x="0" y="25083"/>
                  </a:cubicBezTo>
                  <a:cubicBezTo>
                    <a:pt x="0" y="38935"/>
                    <a:pt x="11230" y="50165"/>
                    <a:pt x="25083" y="50165"/>
                  </a:cubicBezTo>
                  <a:cubicBezTo>
                    <a:pt x="38935" y="50165"/>
                    <a:pt x="50165" y="38935"/>
                    <a:pt x="50165" y="25083"/>
                  </a:cubicBezTo>
                  <a:cubicBezTo>
                    <a:pt x="50165" y="11230"/>
                    <a:pt x="38935" y="0"/>
                    <a:pt x="25083" y="0"/>
                  </a:cubicBezTo>
                  <a:close/>
                </a:path>
              </a:pathLst>
            </a:custGeom>
            <a:solidFill>
              <a:srgbClr val="10B98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165" cy="88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824391" y="4241911"/>
            <a:ext cx="28575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u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2026 Q3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43391" y="5094399"/>
            <a:ext cx="36195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Mobil Uygulama Lansmanı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6627" y="5875449"/>
            <a:ext cx="4408251" cy="1753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72" u="none" noProof="1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Tesis yöneticileri için anlık eşleşme bildirimleri,  sistem üzerinden mesajlaşma paneli ve mobil ilan yönetim altyapısının devreye alınması.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86891" y="4241911"/>
            <a:ext cx="28575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u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2026 Q4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05891" y="5094399"/>
            <a:ext cx="36195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Blockchain Tabanlı Takip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05891" y="5953553"/>
            <a:ext cx="3785646" cy="1238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0"/>
              </a:lnSpc>
            </a:pPr>
            <a:r>
              <a:rPr lang="en-US" sz="1673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Atık ve kaynak değişim süreçlerinin</a:t>
            </a:r>
          </a:p>
          <a:p>
            <a:pPr algn="ctr">
              <a:lnSpc>
                <a:spcPts val="2510"/>
              </a:lnSpc>
            </a:pPr>
            <a:r>
              <a:rPr lang="en-US" sz="1673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şeffaf, güvenli ve değiştirilemez bir</a:t>
            </a:r>
          </a:p>
          <a:p>
            <a:pPr algn="ctr">
              <a:lnSpc>
                <a:spcPts val="2510"/>
              </a:lnSpc>
            </a:pPr>
            <a:r>
              <a:rPr lang="en-US" sz="1673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şekilde blockchain üzerinde sertifikalandırılması.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49391" y="4241911"/>
            <a:ext cx="28575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u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2027 Q1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68391" y="5089636"/>
            <a:ext cx="36195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u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Global OSB Entegrasyonları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21296" y="5990531"/>
            <a:ext cx="5113689" cy="104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sz="1836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Uluslararası OSB'ler ile dijital ağ</a:t>
            </a:r>
          </a:p>
          <a:p>
            <a:pPr algn="ctr">
              <a:lnSpc>
                <a:spcPts val="2754"/>
              </a:lnSpc>
            </a:pPr>
            <a:r>
              <a:rPr lang="en-US" sz="1836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bağlantıları ve CBAM için tam uyumlu</a:t>
            </a:r>
          </a:p>
          <a:p>
            <a:pPr algn="ctr">
              <a:lnSpc>
                <a:spcPts val="2754"/>
              </a:lnSpc>
            </a:pPr>
            <a:r>
              <a:rPr lang="en-US" sz="1836" u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raporlama.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28700" y="1877060"/>
            <a:ext cx="3086100" cy="85998"/>
            <a:chOff x="0" y="0"/>
            <a:chExt cx="812800" cy="226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7048500" y="8820150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9" y="0"/>
                </a:lnTo>
                <a:lnTo>
                  <a:pt x="4188279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5115" y="1717293"/>
            <a:ext cx="4104715" cy="4095147"/>
          </a:xfrm>
          <a:custGeom>
            <a:avLst/>
            <a:gdLst/>
            <a:ahLst/>
            <a:cxnLst/>
            <a:rect l="l" t="t" r="r" b="b"/>
            <a:pathLst>
              <a:path w="4104715" h="4095147">
                <a:moveTo>
                  <a:pt x="0" y="0"/>
                </a:moveTo>
                <a:lnTo>
                  <a:pt x="4104715" y="0"/>
                </a:lnTo>
                <a:lnTo>
                  <a:pt x="4104715" y="4095147"/>
                </a:lnTo>
                <a:lnTo>
                  <a:pt x="0" y="4095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246222" y="3423011"/>
            <a:ext cx="8572500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71"/>
              </a:lnSpc>
              <a:spcBef>
                <a:spcPct val="0"/>
              </a:spcBef>
            </a:pPr>
            <a:r>
              <a:rPr lang="en-US" sz="7551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TEŞEKKÜRLER.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11831" y="4819650"/>
            <a:ext cx="66675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u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"Dünyayı Değil, Geleceği Değiştirelim."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29855" y="5485097"/>
            <a:ext cx="4762500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“ </a:t>
            </a:r>
            <a:r>
              <a:rPr lang="en-US" sz="3099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Selami Kolcu 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33627" y="8134350"/>
            <a:ext cx="1055495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Sorularınızı yanıtlamaktan ve teknik detayları paylaşmaktan memnuniyet duyarım.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853112"/>
            <a:ext cx="3311757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İLETİŞİM</a:t>
            </a:r>
          </a:p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endParaRPr lang="en-US" sz="26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18419" y="6756083"/>
            <a:ext cx="393232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selamikolcu52@gmail.com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17174"/>
            <a:ext cx="3311757" cy="122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26"/>
              </a:lnSpc>
            </a:pPr>
            <a:r>
              <a:rPr lang="en-US" sz="3447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KAPANIŞ VE SORU CEVAP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08655" y="2659697"/>
            <a:ext cx="5103176" cy="47625"/>
            <a:chOff x="0" y="0"/>
            <a:chExt cx="1344046" cy="125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44046" cy="12543"/>
            </a:xfrm>
            <a:custGeom>
              <a:avLst/>
              <a:gdLst/>
              <a:ahLst/>
              <a:cxnLst/>
              <a:rect l="l" t="t" r="r" b="b"/>
              <a:pathLst>
                <a:path w="1344046" h="12543">
                  <a:moveTo>
                    <a:pt x="0" y="0"/>
                  </a:moveTo>
                  <a:lnTo>
                    <a:pt x="1344046" y="0"/>
                  </a:lnTo>
                  <a:lnTo>
                    <a:pt x="13440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44046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8655" y="6371273"/>
            <a:ext cx="1875923" cy="47625"/>
            <a:chOff x="0" y="0"/>
            <a:chExt cx="494070" cy="1254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4070" cy="12543"/>
            </a:xfrm>
            <a:custGeom>
              <a:avLst/>
              <a:gdLst/>
              <a:ahLst/>
              <a:cxnLst/>
              <a:rect l="l" t="t" r="r" b="b"/>
              <a:pathLst>
                <a:path w="494070" h="12543">
                  <a:moveTo>
                    <a:pt x="0" y="0"/>
                  </a:moveTo>
                  <a:lnTo>
                    <a:pt x="494070" y="0"/>
                  </a:lnTo>
                  <a:lnTo>
                    <a:pt x="49407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ACA18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94070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18419" y="7150418"/>
            <a:ext cx="10717029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3" tooltip="https://www.linkedin.com/in/selami-kolcu-631694293/"/>
              </a:rPr>
              <a:t>linkedin.com/SelamiKolcu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8419" y="7585392"/>
            <a:ext cx="393232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SelamiKolcu10"/>
              </a:rPr>
              <a:t>github.com/SelamiKolcu10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78344" y="8914765"/>
            <a:ext cx="4188279" cy="1173639"/>
          </a:xfrm>
          <a:custGeom>
            <a:avLst/>
            <a:gdLst/>
            <a:ahLst/>
            <a:cxnLst/>
            <a:rect l="l" t="t" r="r" b="b"/>
            <a:pathLst>
              <a:path w="4188279" h="1173639">
                <a:moveTo>
                  <a:pt x="0" y="0"/>
                </a:moveTo>
                <a:lnTo>
                  <a:pt x="4188278" y="0"/>
                </a:lnTo>
                <a:lnTo>
                  <a:pt x="4188278" y="1173639"/>
                </a:lnTo>
                <a:lnTo>
                  <a:pt x="0" y="1173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986</Words>
  <Application>Microsoft Office PowerPoint</Application>
  <PresentationFormat>Custom</PresentationFormat>
  <Paragraphs>95</Paragraphs>
  <Slides>16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Poppins Light</vt:lpstr>
      <vt:lpstr>Calibri</vt:lpstr>
      <vt:lpstr>Poppins Bold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Visually Enhanced Page Design</dc:title>
  <cp:lastModifiedBy>selami kolcu</cp:lastModifiedBy>
  <cp:revision>10</cp:revision>
  <dcterms:created xsi:type="dcterms:W3CDTF">2006-08-16T00:00:00Z</dcterms:created>
  <dcterms:modified xsi:type="dcterms:W3CDTF">2026-05-11T20:58:57Z</dcterms:modified>
  <dc:identifier>DAHIzi8LPd0</dc:identifier>
</cp:coreProperties>
</file>